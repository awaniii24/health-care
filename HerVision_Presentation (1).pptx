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669280" cy="5669280"/>
          </a:xfrm>
          <a:prstGeom prst="ellipse">
            <a:avLst/>
          </a:prstGeom>
          <a:solidFill>
            <a:srgbClr val="B0121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9144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INNOVATION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Blood Donation &amp; Emergency Blood Matching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41248" y="3593592"/>
            <a:ext cx="100584" cy="100584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520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donors with hospitals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3995928"/>
            <a:ext cx="100584" cy="100584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227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blood matching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398264"/>
            <a:ext cx="100584" cy="100584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251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emergency response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17203A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21208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E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Blood Can Be Someone’s Tomorrow.”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89720" y="2423160"/>
            <a:ext cx="2286000" cy="2286000"/>
          </a:xfrm>
          <a:prstGeom prst="ellipse">
            <a:avLst/>
          </a:prstGeom>
          <a:solidFill>
            <a:srgbClr val="B0121A">
              <a:alpha val="2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4231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compatible donor still takes too long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blood requirements are met through slow, unorganized, informal channels.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290572"/>
            <a:ext cx="685800" cy="68580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2905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312724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Blood Is Hard to Find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 matching donor during a genuine emergency is often difficult and unpredictable.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290572"/>
            <a:ext cx="685800" cy="68580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2905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02152" y="312724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Calls &amp; Groups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7490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and families depend on phone calls, WhatsApp groups and personal contacts.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2290572"/>
            <a:ext cx="685800" cy="68580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2905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91072" y="312724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Unorganized Donor Information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details are scattered across registers, spreadsheets and individual memory.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915400" y="20116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0" y="2290572"/>
            <a:ext cx="685800" cy="68580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22905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79992" y="312724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Availability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98280" y="37490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availability is rarely kept current, leading to repeated failed attempts.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7A0C12"/>
          </a:solidFill>
          <a:ln w="12700">
            <a:solidFill>
              <a:srgbClr val="7A0C12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The result: valuable, life-saving time is lost during emergencies.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— one platform for emergency blood matching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organized system that brings donors and hospitals together in real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61872" y="2276856"/>
            <a:ext cx="658368" cy="658368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728" dirty="0"/>
          </a:p>
        </p:txBody>
      </p:sp>
      <p:sp>
        <p:nvSpPr>
          <p:cNvPr id="10" name="Text 8"/>
          <p:cNvSpPr/>
          <p:nvPr/>
        </p:nvSpPr>
        <p:spPr>
          <a:xfrm>
            <a:off x="676656" y="30540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Donor Database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13232" y="37033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donor records held securely in one organized, searchable system.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2276856"/>
            <a:ext cx="658368" cy="658368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🪣</a:t>
            </a:r>
            <a:endParaRPr lang="en-US" sz="1728" dirty="0"/>
          </a:p>
        </p:txBody>
      </p:sp>
      <p:sp>
        <p:nvSpPr>
          <p:cNvPr id="15" name="Text 13"/>
          <p:cNvSpPr/>
          <p:nvPr/>
        </p:nvSpPr>
        <p:spPr>
          <a:xfrm>
            <a:off x="2962656" y="30540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Blood-Group Based Matching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999232" y="37033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filtering by blood-group compatibility for accurate results.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120640" y="201168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33872" y="2276856"/>
            <a:ext cx="658368" cy="658368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728" dirty="0"/>
          </a:p>
        </p:txBody>
      </p:sp>
      <p:sp>
        <p:nvSpPr>
          <p:cNvPr id="20" name="Text 18"/>
          <p:cNvSpPr/>
          <p:nvPr/>
        </p:nvSpPr>
        <p:spPr>
          <a:xfrm>
            <a:off x="5248656" y="30540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Donor Search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285232" y="37033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suitable donors nearest to the hospital in need.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406640" y="201168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9872" y="2276856"/>
            <a:ext cx="658368" cy="658368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1728" dirty="0"/>
          </a:p>
        </p:txBody>
      </p:sp>
      <p:sp>
        <p:nvSpPr>
          <p:cNvPr id="25" name="Text 23"/>
          <p:cNvSpPr/>
          <p:nvPr/>
        </p:nvSpPr>
        <p:spPr>
          <a:xfrm>
            <a:off x="7534656" y="30540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7571232" y="37033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Donors' current status is visible instantly — no guesswork.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9692640" y="201168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405872" y="2276856"/>
            <a:ext cx="658368" cy="658368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05872" y="22768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728" dirty="0"/>
          </a:p>
        </p:txBody>
      </p:sp>
      <p:sp>
        <p:nvSpPr>
          <p:cNvPr id="30" name="Text 28"/>
          <p:cNvSpPr/>
          <p:nvPr/>
        </p:nvSpPr>
        <p:spPr>
          <a:xfrm>
            <a:off x="9820656" y="30540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Hospital–Donor Connection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9857232" y="37033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fast connection between hospital staff and the right donor.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HERVISION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Request → Match → Connect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guided workflow that moves from need to a life-saving connection.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883664" cy="214884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61288" y="2322576"/>
            <a:ext cx="658368" cy="658368"/>
          </a:xfrm>
          <a:prstGeom prst="ellipse">
            <a:avLst/>
          </a:prstGeom>
          <a:solidFill>
            <a:srgbClr val="B0121A"/>
          </a:solidFill>
          <a:ln w="38100">
            <a:solidFill>
              <a:srgbClr val="F7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322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1089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3520440"/>
            <a:ext cx="1591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registers on the platform with verified details.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2436876" y="34290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3A3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78608" y="2651760"/>
            <a:ext cx="1883664" cy="214884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91256" y="2322576"/>
            <a:ext cx="658368" cy="658368"/>
          </a:xfrm>
          <a:prstGeom prst="ellipse">
            <a:avLst/>
          </a:prstGeom>
          <a:solidFill>
            <a:srgbClr val="112A4F"/>
          </a:solidFill>
          <a:ln w="38100">
            <a:solidFill>
              <a:srgbClr val="F7F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2322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88336" y="31089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24912" y="3520440"/>
            <a:ext cx="1591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creates a blood requirement in the system.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466844" y="34290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3A3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08576" y="2651760"/>
            <a:ext cx="1883664" cy="214884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21224" y="2322576"/>
            <a:ext cx="658368" cy="658368"/>
          </a:xfrm>
          <a:prstGeom prst="ellipse">
            <a:avLst/>
          </a:prstGeom>
          <a:solidFill>
            <a:srgbClr val="B8791A"/>
          </a:solidFill>
          <a:ln w="38100">
            <a:solidFill>
              <a:srgbClr val="F7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21224" y="2322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18304" y="31089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20440"/>
            <a:ext cx="1591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and identifies compatible donors.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496812" y="34290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3A3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38544" y="2651760"/>
            <a:ext cx="1883664" cy="214884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51192" y="2322576"/>
            <a:ext cx="658368" cy="658368"/>
          </a:xfrm>
          <a:prstGeom prst="ellipse">
            <a:avLst/>
          </a:prstGeom>
          <a:solidFill>
            <a:srgbClr val="1E8A5F"/>
          </a:solidFill>
          <a:ln w="38100">
            <a:solidFill>
              <a:srgbClr val="F7F5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2322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48272" y="31089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84848" y="3520440"/>
            <a:ext cx="1591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are ranked and prioritized intelligently.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526780" y="34290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3A3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668512" y="2651760"/>
            <a:ext cx="1883664" cy="214884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81160" y="2322576"/>
            <a:ext cx="658368" cy="658368"/>
          </a:xfrm>
          <a:prstGeom prst="ellipse">
            <a:avLst/>
          </a:prstGeom>
          <a:solidFill>
            <a:srgbClr val="B0121A"/>
          </a:solidFill>
          <a:ln w="38100">
            <a:solidFill>
              <a:srgbClr val="F7F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2322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778240" y="31089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14816" y="3520440"/>
            <a:ext cx="1591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contacts the most suitable donor directly.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unique, complete donor profile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donor is represented by a structured, always up-to-date profile.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0B1E3A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48840" y="2377440"/>
            <a:ext cx="1005840" cy="1005840"/>
          </a:xfrm>
          <a:prstGeom prst="ellipse">
            <a:avLst/>
          </a:prstGeom>
          <a:solidFill>
            <a:srgbClr val="C9A24B">
              <a:alpha val="22000"/>
            </a:srgbClr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377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4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Profile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HV-2026-00147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43434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B0121A">
              <a:alpha val="85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4343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Available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donated: 3 months ago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to donate again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74920" y="2011680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2231136"/>
            <a:ext cx="457200" cy="45720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011680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Donor ID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2011680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2231136"/>
            <a:ext cx="457200" cy="45720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2231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2011680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3090672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3310128"/>
            <a:ext cx="457200" cy="45720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090672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3090672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3310128"/>
            <a:ext cx="457200" cy="45720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72600" y="3090672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4169664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4389120"/>
            <a:ext cx="457200" cy="45720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4169664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169664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4389120"/>
            <a:ext cx="457200" cy="45720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72600" y="4169664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History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74920" y="5248656"/>
            <a:ext cx="315468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5468112"/>
            <a:ext cx="457200" cy="45720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5468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0" y="5248656"/>
            <a:ext cx="21488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Donation Date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BLOOD MATCHING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donor prioritization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considers compatibility, distance, availability and urgency together.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🪣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13232" y="2852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Blood-Group Compatibility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medically compatible donors are surfaced first.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2194560"/>
            <a:ext cx="548640" cy="54864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3502152" y="2852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Availability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available donors are prioritized over inactive ones.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194560"/>
            <a:ext cx="548640" cy="54864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6291072" y="2852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Hospital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donors are ranked higher to reduce response time.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20116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8280" y="2194560"/>
            <a:ext cx="548640" cy="54864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9079992" y="2852928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3337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requests are escalated ahead of routine ones.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0B1E3A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Ranked List of Suitable Donors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937760"/>
            <a:ext cx="3331464" cy="960120"/>
          </a:xfrm>
          <a:prstGeom prst="roundRect">
            <a:avLst>
              <a:gd name="adj" fmla="val 7619"/>
            </a:avLst>
          </a:prstGeom>
          <a:solidFill>
            <a:srgbClr val="17284A"/>
          </a:solidFill>
          <a:ln w="12700">
            <a:solidFill>
              <a:srgbClr val="1E8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0474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97280" y="562356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 • 1.2 km • Available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428744" y="4937760"/>
            <a:ext cx="3331464" cy="960120"/>
          </a:xfrm>
          <a:prstGeom prst="roundRect">
            <a:avLst>
              <a:gd name="adj" fmla="val 7619"/>
            </a:avLst>
          </a:prstGeom>
          <a:solidFill>
            <a:srgbClr val="17284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1624" y="50474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11624" y="534924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11624" y="562356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 • 2.6 km • Available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943088" y="4937760"/>
            <a:ext cx="3331464" cy="960120"/>
          </a:xfrm>
          <a:prstGeom prst="roundRect">
            <a:avLst>
              <a:gd name="adj" fmla="val 7619"/>
            </a:avLst>
          </a:prstGeom>
          <a:solidFill>
            <a:srgbClr val="17284A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25968" y="50474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25968" y="5349240"/>
            <a:ext cx="2965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125968" y="5623560"/>
            <a:ext cx="2965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 • 4.1 km • Available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secure and scalable architecture underpins the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" y="2263140"/>
            <a:ext cx="594360" cy="59436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1536192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36192" y="26334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web / app interface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7428" y="2263140"/>
            <a:ext cx="594360" cy="59436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7428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5321808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21808" y="26334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donor management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9872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3044" y="2263140"/>
            <a:ext cx="594360" cy="59436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3044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9107424" y="22677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07424" y="263347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of donor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1812" y="4082796"/>
            <a:ext cx="594360" cy="59436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1536192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36192" y="44531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donor matching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34256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7428" y="4082796"/>
            <a:ext cx="594360" cy="59436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67428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5321808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321808" y="44531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prioritization &amp; prediction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19872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53044" y="4082796"/>
            <a:ext cx="594360" cy="59436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3044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9107424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07424" y="44531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verified user 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donor information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central to HerVision — donor data is safeguarded at every layer.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" y="2263140"/>
            <a:ext cx="594360" cy="59436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1536192" y="22311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Authentication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1536192" y="267004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sign-in protects every account.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4256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7428" y="2263140"/>
            <a:ext cx="594360" cy="59436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7428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5321808" y="22311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321808" y="267004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only what their role permits.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9872" y="20116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3044" y="2263140"/>
            <a:ext cx="594360" cy="59436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3044" y="22631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9107424" y="22311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Sensitive Information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9107424" y="267004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medical data is encrypted at rest.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1812" y="4082796"/>
            <a:ext cx="594360" cy="59436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1536192" y="4050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Consent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1536192" y="448970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control what information is shared.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34256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7428" y="4082796"/>
            <a:ext cx="594360" cy="59436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67428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5321808" y="4050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Availability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5321808" y="448970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manage their own status in real time.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19872" y="3831336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53044" y="4082796"/>
            <a:ext cx="594360" cy="59436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3044" y="40827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9107424" y="4050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Access Only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9107424" y="448970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hospitals view relevant details.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goes beyond a simple donor list to deliver true emergency-ready matching.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1672" cy="4160520"/>
          </a:xfrm>
          <a:prstGeom prst="roundRect">
            <a:avLst>
              <a:gd name="adj" fmla="val 2198"/>
            </a:avLst>
          </a:prstGeom>
          <a:solidFill>
            <a:srgbClr val="0B1E3A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C9A24B">
              <a:alpha val="20000"/>
            </a:srgbClr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7276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E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emergencies — not just record-keeping.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54480" y="4160520"/>
            <a:ext cx="310896" cy="310896"/>
          </a:xfrm>
          <a:prstGeom prst="ellipse">
            <a:avLst/>
          </a:prstGeom>
          <a:solidFill>
            <a:srgbClr val="B0121A">
              <a:alpha val="22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41605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simple donor database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554480" y="4663440"/>
            <a:ext cx="310896" cy="310896"/>
          </a:xfrm>
          <a:prstGeom prst="ellipse">
            <a:avLst/>
          </a:prstGeom>
          <a:solidFill>
            <a:srgbClr val="B0121A">
              <a:alpha val="22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46634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donor prioritization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554480" y="5166360"/>
            <a:ext cx="310896" cy="310896"/>
          </a:xfrm>
          <a:prstGeom prst="ellipse">
            <a:avLst/>
          </a:prstGeom>
          <a:solidFill>
            <a:srgbClr val="B0121A">
              <a:alpha val="22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51663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Emergency-focused matching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4160520"/>
            <a:ext cx="310896" cy="310896"/>
          </a:xfrm>
          <a:prstGeom prst="ellipse">
            <a:avLst/>
          </a:prstGeom>
          <a:solidFill>
            <a:srgbClr val="C9A24B">
              <a:alpha val="22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160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160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availability-based search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0" y="4663440"/>
            <a:ext cx="310896" cy="310896"/>
          </a:xfrm>
          <a:prstGeom prst="ellipse">
            <a:avLst/>
          </a:prstGeom>
          <a:solidFill>
            <a:srgbClr val="C9A24B">
              <a:alpha val="22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6634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hospital–donor connection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0" y="5166360"/>
            <a:ext cx="310896" cy="310896"/>
          </a:xfrm>
          <a:prstGeom prst="ellipse">
            <a:avLst/>
          </a:prstGeom>
          <a:solidFill>
            <a:srgbClr val="C9A24B">
              <a:alpha val="22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51663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healthcare platform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HerVision's value shows up in time saved, and in lives supported.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0" y="2304288"/>
            <a:ext cx="640080" cy="64008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Donor-Search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20574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97296" y="2304288"/>
            <a:ext cx="640080" cy="64008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4517136" y="310896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Emergency Blood Availability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0574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82912" y="2304288"/>
            <a:ext cx="640080" cy="640080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Hospitals Respond Faster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4306824"/>
            <a:ext cx="640080" cy="640080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3068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731520" y="51114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Donor 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34256" y="405993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97296" y="4306824"/>
            <a:ext cx="640080" cy="640080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43068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4517136" y="51114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Nearby Suitable Donors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19872" y="4059936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582912" y="4306824"/>
            <a:ext cx="640080" cy="640080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82912" y="43068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8302752" y="51114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Connected Donation Network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B0121A">
              <a:alpha val="15000"/>
            </a:srgbClr>
          </a:solidFill>
          <a:ln w="13970">
            <a:solidFill>
              <a:srgbClr val="B01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HerVision is headed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pilot platform to a nationwide donation network.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0848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07592" y="2231136"/>
            <a:ext cx="566928" cy="566928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1488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&amp; Hospital Integration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20848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231136"/>
            <a:ext cx="566928" cy="566928"/>
          </a:xfrm>
          <a:prstGeom prst="ellipse">
            <a:avLst/>
          </a:prstGeom>
          <a:solidFill>
            <a:srgbClr val="112A4F">
              <a:alpha val="12000"/>
            </a:srgbClr>
          </a:solidFill>
          <a:ln w="15875">
            <a:solidFill>
              <a:srgbClr val="112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📣</a:t>
            </a:r>
            <a:endParaRPr lang="en-US" sz="1488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Emergency Notifications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011680"/>
            <a:ext cx="20848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9592" y="2231136"/>
            <a:ext cx="566928" cy="566928"/>
          </a:xfrm>
          <a:prstGeom prst="ellipse">
            <a:avLst/>
          </a:prstGeom>
          <a:solidFill>
            <a:srgbClr val="B8791A">
              <a:alpha val="12000"/>
            </a:srgbClr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488" dirty="0"/>
          </a:p>
        </p:txBody>
      </p:sp>
      <p:sp>
        <p:nvSpPr>
          <p:cNvPr id="18" name="Text 16"/>
          <p:cNvSpPr/>
          <p:nvPr/>
        </p:nvSpPr>
        <p:spPr>
          <a:xfrm>
            <a:off x="52578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Blood-Demand Prediction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2011680"/>
            <a:ext cx="20848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2231136"/>
            <a:ext cx="566928" cy="566928"/>
          </a:xfrm>
          <a:prstGeom prst="ellipse">
            <a:avLst/>
          </a:prstGeom>
          <a:solidFill>
            <a:srgbClr val="1E8A5F">
              <a:alpha val="12000"/>
            </a:srgbClr>
          </a:solidFill>
          <a:ln w="15875">
            <a:solidFill>
              <a:srgbClr val="1E8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488" dirty="0"/>
          </a:p>
        </p:txBody>
      </p:sp>
      <p:sp>
        <p:nvSpPr>
          <p:cNvPr id="22" name="Text 20"/>
          <p:cNvSpPr/>
          <p:nvPr/>
        </p:nvSpPr>
        <p:spPr>
          <a:xfrm>
            <a:off x="75438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92640" y="2011680"/>
            <a:ext cx="20848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51592" y="2231136"/>
            <a:ext cx="566928" cy="566928"/>
          </a:xfrm>
          <a:prstGeom prst="ellipse">
            <a:avLst/>
          </a:prstGeom>
          <a:solidFill>
            <a:srgbClr val="B0121A">
              <a:alpha val="12000"/>
            </a:srgbClr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5159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8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488" dirty="0"/>
          </a:p>
        </p:txBody>
      </p:sp>
      <p:sp>
        <p:nvSpPr>
          <p:cNvPr id="26" name="Text 24"/>
          <p:cNvSpPr/>
          <p:nvPr/>
        </p:nvSpPr>
        <p:spPr>
          <a:xfrm>
            <a:off x="98298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0B1E3A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0B1E3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45312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Expansion Path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9728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B0121A">
              <a:alpha val="80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18688" y="50292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2044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B0121A">
              <a:alpha val="80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41848" y="50292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4360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B0121A">
              <a:alpha val="80000"/>
            </a:srgbClr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65008" y="50292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66760" y="5029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C9A24B">
              <a:alpha val="80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0121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5486400" cy="5486400"/>
          </a:xfrm>
          <a:prstGeom prst="ellipse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772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Blood Search Into Smart Blood Matching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86688" y="2286000"/>
            <a:ext cx="2148840" cy="594360"/>
          </a:xfrm>
          <a:prstGeom prst="roundRect">
            <a:avLst>
              <a:gd name="adj" fmla="val 50000"/>
            </a:avLst>
          </a:prstGeom>
          <a:solidFill>
            <a:srgbClr val="17203A"/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6688" y="22860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35528" y="228600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9848" y="2286000"/>
            <a:ext cx="2148840" cy="594360"/>
          </a:xfrm>
          <a:prstGeom prst="roundRect">
            <a:avLst>
              <a:gd name="adj" fmla="val 50000"/>
            </a:avLst>
          </a:prstGeom>
          <a:solidFill>
            <a:srgbClr val="17203A"/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9848" y="22860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58688" y="228600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2286000"/>
            <a:ext cx="2148840" cy="594360"/>
          </a:xfrm>
          <a:prstGeom prst="roundRect">
            <a:avLst>
              <a:gd name="adj" fmla="val 50000"/>
            </a:avLst>
          </a:prstGeom>
          <a:solidFill>
            <a:srgbClr val="17203A"/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22860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81848" y="228600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56168" y="2286000"/>
            <a:ext cx="2148840" cy="594360"/>
          </a:xfrm>
          <a:prstGeom prst="roundRect">
            <a:avLst>
              <a:gd name="adj" fmla="val 50000"/>
            </a:avLst>
          </a:prstGeom>
          <a:solidFill>
            <a:srgbClr val="17203A"/>
          </a:solidFill>
          <a:ln w="15875">
            <a:solidFill>
              <a:srgbClr val="B0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6168" y="22860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463040" y="3429000"/>
            <a:ext cx="9262872" cy="1051560"/>
          </a:xfrm>
          <a:prstGeom prst="roundRect">
            <a:avLst>
              <a:gd name="adj" fmla="val 8696"/>
            </a:avLst>
          </a:prstGeom>
          <a:solidFill>
            <a:srgbClr val="17203A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429000"/>
            <a:ext cx="8714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3E7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every second matters, finding a donor shouldn’t be difficult.”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Blood Can Be Someone’s Tomorrow.  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HERVISION  •  SMART BLOOD DONATION &amp; EMERGENCY MATCHING SYSTEM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2026-08-15T05:23:06Z</dcterms:created>
  <dcterms:modified xsi:type="dcterms:W3CDTF">2026-08-15T05:23:06Z</dcterms:modified>
</cp:coreProperties>
</file>